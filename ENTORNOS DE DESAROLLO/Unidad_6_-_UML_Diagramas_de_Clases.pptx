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8" r:id="rId6"/>
    <p:sldMasterId id="2147483669" r:id="rId7"/>
    <p:sldMasterId id="2147483681" r:id="rId8"/>
    <p:sldMasterId id="2147483686" r:id="rId9"/>
    <p:sldMasterId id="2147483691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y="6858000" cx="9144000"/>
  <p:notesSz cx="6858000" cy="9144000"/>
  <p:embeddedFontLst>
    <p:embeddedFont>
      <p:font typeface="Play"/>
      <p:regular r:id="rId19"/>
      <p:bold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Medium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  <p:embeddedFont>
      <p:font typeface="Poppins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i8E905WCBH63NfeWsILluwxSzc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29BAF9-89AB-4233-A9A3-3AE3DA52803E}">
  <a:tblStyle styleId="{1929BAF9-89AB-4233-A9A3-3AE3DA52803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font" Target="fonts/PoppinsMedium-bold.fntdata"/><Relationship Id="rId25" Type="http://schemas.openxmlformats.org/officeDocument/2006/relationships/font" Target="fonts/PoppinsMedium-regular.fntdata"/><Relationship Id="rId28" Type="http://schemas.openxmlformats.org/officeDocument/2006/relationships/font" Target="fonts/PoppinsMedium-boldItalic.fntdata"/><Relationship Id="rId27" Type="http://schemas.openxmlformats.org/officeDocument/2006/relationships/font" Target="fonts/PoppinsMedium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SemiBold-regular.fntdata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notesMaster" Target="notesMasters/notesMaster1.xml"/><Relationship Id="rId33" Type="http://schemas.openxmlformats.org/officeDocument/2006/relationships/font" Target="fonts/PoppinsExtraBold-bold.fntdata"/><Relationship Id="rId10" Type="http://schemas.openxmlformats.org/officeDocument/2006/relationships/slideMaster" Target="slideMasters/slideMaster6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2.xml"/><Relationship Id="rId35" Type="http://customschemas.google.com/relationships/presentationmetadata" Target="metadata"/><Relationship Id="rId12" Type="http://schemas.openxmlformats.org/officeDocument/2006/relationships/slide" Target="slides/slide1.xml"/><Relationship Id="rId34" Type="http://schemas.openxmlformats.org/officeDocument/2006/relationships/font" Target="fonts/PoppinsExtraBold-boldItalic.fntdata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font" Target="fonts/Play-regular.fntdata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Lectura del diagrama: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AWS asegura el sustrato físico y el plano de servicio; el cliente asume identidades,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configuración, datos y operación segura.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Los ejemplos muestran que, aunque el servicio sea gestionado, la correcta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configuración y protección de datos sigue siendo del cliente</a:t>
            </a:r>
            <a:endParaRPr/>
          </a:p>
        </p:txBody>
      </p:sp>
      <p:sp>
        <p:nvSpPr>
          <p:cNvPr id="281" name="Google Shape;2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7B68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Blanco">
  <p:cSld name="5. Blanc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Diseño personalizado 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o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Blanco">
  <p:cSld name="5. Blanco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Diseño personalizado 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6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7B68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8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8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8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6" name="Google Shape;76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8" name="Google Shape;88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" type="body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3"/>
          <p:cNvSpPr txBox="1"/>
          <p:nvPr>
            <p:ph idx="2" type="body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4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4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1" name="Google Shape;101;p34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3" name="Google Shape;103;p34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7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9" name="Google Shape;119;p37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0" name="Google Shape;120;p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38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7" name="Google Shape;127;p3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0"/>
          <p:cNvSpPr txBox="1"/>
          <p:nvPr>
            <p:ph idx="1" type="body"/>
          </p:nvPr>
        </p:nvSpPr>
        <p:spPr>
          <a:xfrm rot="5400000">
            <a:off x="604044" y="389731"/>
            <a:ext cx="5811838" cy="576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4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3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3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4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4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43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6" name="Google Shape;156;p4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5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" name="Google Shape;161;p45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9pPr>
          </a:lstStyle>
          <a:p/>
        </p:txBody>
      </p:sp>
      <p:sp>
        <p:nvSpPr>
          <p:cNvPr id="162" name="Google Shape;162;p45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9pPr>
          </a:lstStyle>
          <a:p/>
        </p:txBody>
      </p:sp>
      <p:sp>
        <p:nvSpPr>
          <p:cNvPr id="163" name="Google Shape;163;p4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4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45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8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48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4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4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48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9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4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4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Google Shape;182;p49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0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50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9pPr>
          </a:lstStyle>
          <a:p/>
        </p:txBody>
      </p:sp>
      <p:sp>
        <p:nvSpPr>
          <p:cNvPr id="186" name="Google Shape;186;p50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9pPr>
          </a:lstStyle>
          <a:p/>
        </p:txBody>
      </p:sp>
      <p:sp>
        <p:nvSpPr>
          <p:cNvPr id="187" name="Google Shape;187;p5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5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9" name="Google Shape;189;p50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 type="title">
  <p:cSld name="TITLE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on" type="secHead">
  <p:cSld name="SECTION_HEADER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" type="tx">
  <p:cSld name="TITLE_AND_BOD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5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Blanco">
  <p:cSld name="5. Blanco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Diseño personalizado 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9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59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7B68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B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5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5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59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0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60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6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6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60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1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61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61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6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6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61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0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0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0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0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0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0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0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0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9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2" Type="http://schemas.openxmlformats.org/officeDocument/2006/relationships/theme" Target="../theme/theme7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theme" Target="../theme/theme3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11" Type="http://schemas.openxmlformats.org/officeDocument/2006/relationships/theme" Target="../theme/theme6.xml"/><Relationship Id="rId10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96929" y="6364189"/>
            <a:ext cx="951058" cy="11583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9" name="Google Shape;69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1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41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6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46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1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a oveja en burbujas" id="223" name="Google Shape;223;p1"/>
          <p:cNvPicPr preferRelativeResize="0"/>
          <p:nvPr/>
        </p:nvPicPr>
        <p:blipFill rotWithShape="1">
          <a:blip r:embed="rId3">
            <a:alphaModFix/>
          </a:blip>
          <a:srcRect b="1" l="20065" r="19288" t="0"/>
          <a:stretch/>
        </p:blipFill>
        <p:spPr>
          <a:xfrm>
            <a:off x="3202390" y="-1"/>
            <a:ext cx="5941610" cy="6858001"/>
          </a:xfrm>
          <a:custGeom>
            <a:rect b="b" l="l" r="r" t="t"/>
            <a:pathLst>
              <a:path extrusionOk="0" h="6858001" w="7922146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4" name="Google Shape;224;p1"/>
          <p:cNvSpPr txBox="1"/>
          <p:nvPr>
            <p:ph type="ctrTitle"/>
          </p:nvPr>
        </p:nvSpPr>
        <p:spPr>
          <a:xfrm>
            <a:off x="166410" y="1464177"/>
            <a:ext cx="3742972" cy="23690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/>
              <a:t>Modelado UML</a:t>
            </a:r>
            <a:endParaRPr sz="3800"/>
          </a:p>
        </p:txBody>
      </p:sp>
      <p:sp>
        <p:nvSpPr>
          <p:cNvPr id="225" name="Google Shape;225;p1"/>
          <p:cNvSpPr txBox="1"/>
          <p:nvPr>
            <p:ph idx="1" type="subTitle"/>
          </p:nvPr>
        </p:nvSpPr>
        <p:spPr>
          <a:xfrm>
            <a:off x="508001" y="4050831"/>
            <a:ext cx="3059791" cy="109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400"/>
              <a:t>Entornos de Desarrollo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226" name="Google Shape;226;p1"/>
          <p:cNvSpPr txBox="1"/>
          <p:nvPr/>
        </p:nvSpPr>
        <p:spPr>
          <a:xfrm>
            <a:off x="79022" y="1278322"/>
            <a:ext cx="34092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600" u="none" cap="none" strike="noStrike">
                <a:solidFill>
                  <a:srgbClr val="E6945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UNIDAD 6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"/>
          <p:cNvSpPr txBox="1"/>
          <p:nvPr>
            <p:ph type="title"/>
          </p:nvPr>
        </p:nvSpPr>
        <p:spPr>
          <a:xfrm>
            <a:off x="1490134" y="485422"/>
            <a:ext cx="7653846" cy="14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Sesión 6 : </a:t>
            </a:r>
            <a:r>
              <a:rPr lang="es-ES" sz="320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Diagramas de clases</a:t>
            </a:r>
            <a:endParaRPr/>
          </a:p>
        </p:txBody>
      </p:sp>
      <p:sp>
        <p:nvSpPr>
          <p:cNvPr id="233" name="Google Shape;233;p2"/>
          <p:cNvSpPr txBox="1"/>
          <p:nvPr>
            <p:ph idx="1" type="body"/>
          </p:nvPr>
        </p:nvSpPr>
        <p:spPr>
          <a:xfrm>
            <a:off x="2137170" y="1704623"/>
            <a:ext cx="6871363" cy="433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s-ES" sz="2400">
                <a:latin typeface="Poppins"/>
                <a:ea typeface="Poppins"/>
                <a:cs typeface="Poppins"/>
                <a:sym typeface="Poppins"/>
              </a:rPr>
              <a:t>UML (Unified Modeling Language) </a:t>
            </a:r>
            <a:r>
              <a:rPr lang="es-ES" sz="2400">
                <a:latin typeface="Poppins"/>
                <a:ea typeface="Poppins"/>
                <a:cs typeface="Poppins"/>
                <a:sym typeface="Poppins"/>
              </a:rPr>
              <a:t>es un lenguaje estándar para modelar sistemas orientados a objetos.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400">
                <a:latin typeface="Poppins"/>
                <a:ea typeface="Poppins"/>
                <a:cs typeface="Poppins"/>
                <a:sym typeface="Poppins"/>
              </a:rPr>
              <a:t>Fue estandarizado por el Object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400">
                <a:latin typeface="Poppins"/>
                <a:ea typeface="Poppins"/>
                <a:cs typeface="Poppins"/>
                <a:sym typeface="Poppins"/>
              </a:rPr>
              <a:t>Management Group (OMG) y se usa para: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Poppins"/>
                <a:ea typeface="Poppins"/>
                <a:cs typeface="Poppins"/>
                <a:sym typeface="Poppins"/>
              </a:rPr>
              <a:t>Diseñar software antes de programar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Poppins"/>
                <a:ea typeface="Poppins"/>
                <a:cs typeface="Poppins"/>
                <a:sym typeface="Poppins"/>
              </a:rPr>
              <a:t>Documentar proyectos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Poppins"/>
                <a:ea typeface="Poppins"/>
                <a:cs typeface="Poppins"/>
                <a:sym typeface="Poppins"/>
              </a:rPr>
              <a:t>Entender relaciones entre clases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Poppins"/>
                <a:ea typeface="Poppins"/>
                <a:cs typeface="Poppins"/>
                <a:sym typeface="Poppins"/>
              </a:rPr>
              <a:t>Comunicar arquitectura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Nubes y cielos claros" id="234" name="Google Shape;234;p2"/>
          <p:cNvPicPr preferRelativeResize="0"/>
          <p:nvPr/>
        </p:nvPicPr>
        <p:blipFill rotWithShape="1">
          <a:blip r:embed="rId3">
            <a:alphaModFix/>
          </a:blip>
          <a:srcRect b="-2" l="29108" r="51036" t="0"/>
          <a:stretch/>
        </p:blipFill>
        <p:spPr>
          <a:xfrm>
            <a:off x="20" y="10"/>
            <a:ext cx="2050522" cy="6867719"/>
          </a:xfrm>
          <a:custGeom>
            <a:rect b="b" l="l" r="r" t="t"/>
            <a:pathLst>
              <a:path extrusionOk="0" h="6858000" w="2734056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"/>
          <p:cNvSpPr txBox="1"/>
          <p:nvPr>
            <p:ph type="title"/>
          </p:nvPr>
        </p:nvSpPr>
        <p:spPr>
          <a:xfrm>
            <a:off x="643409" y="660400"/>
            <a:ext cx="8013880" cy="109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E6945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¿Qué es un Diagrama de Clases?</a:t>
            </a:r>
            <a:endParaRPr/>
          </a:p>
        </p:txBody>
      </p:sp>
      <p:pic>
        <p:nvPicPr>
          <p:cNvPr id="241" name="Google Shape;24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486708" y="1663338"/>
            <a:ext cx="8170581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486708" y="2042160"/>
            <a:ext cx="8088332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 el diagrama más importante en programación orientada a objetos.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Representa: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Clases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Atributos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Métodos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Relaciones entre clases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</a:t>
            </a:r>
            <a:r>
              <a:rPr b="1"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estático</a:t>
            </a:r>
            <a:r>
              <a:rPr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(estructura, no comportamiento).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680" y="1304270"/>
            <a:ext cx="10497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" id="250" name="Google Shape;2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600" y="1583943"/>
            <a:ext cx="7416800" cy="5128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8816"/>
            <a:ext cx="9143999" cy="110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680" y="1304270"/>
            <a:ext cx="10497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a&#10;&#10;El contenido generado por IA puede ser incorrecto." id="258" name="Google Shape;2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878" y="2528085"/>
            <a:ext cx="3480842" cy="298619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"/>
          <p:cNvSpPr/>
          <p:nvPr/>
        </p:nvSpPr>
        <p:spPr>
          <a:xfrm>
            <a:off x="4485362" y="2528085"/>
            <a:ext cx="751840" cy="46736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613E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4470400" y="3220720"/>
            <a:ext cx="751840" cy="46736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613E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4485362" y="4947920"/>
            <a:ext cx="751840" cy="46736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613E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5425440" y="2528085"/>
            <a:ext cx="3027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Clase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5409920" y="3244334"/>
            <a:ext cx="3348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Atributos: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 Publico	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 Privado     Nombre:Tipo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# Protected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5377080" y="4581435"/>
            <a:ext cx="3348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Metodos: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 Publico	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 Privado     Nombre:Tipo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# Protected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8267220" cy="999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486708" y="1663338"/>
            <a:ext cx="8170581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6"/>
          <p:cNvSpPr txBox="1"/>
          <p:nvPr/>
        </p:nvSpPr>
        <p:spPr>
          <a:xfrm>
            <a:off x="622278" y="2483954"/>
            <a:ext cx="8105422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Asociación</a:t>
            </a:r>
            <a:r>
              <a:rPr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clase usa otra</a:t>
            </a:r>
            <a:r>
              <a:rPr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Agregación: </a:t>
            </a: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Relación "tiene un", pero pueden existir por separado.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Ejemplo: Una tienda tiene juegos.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Composición</a:t>
            </a:r>
            <a:r>
              <a:rPr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Relación fuerte: si muere el objeto principal, mueren los contenidos.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		    </a:t>
            </a: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Un pedido tiene líneas de pedido.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Herencia</a:t>
            </a:r>
            <a:r>
              <a:rPr b="1"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3" name="Google Shape;2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6179" y="2571891"/>
            <a:ext cx="3047998" cy="285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809" y="3761229"/>
            <a:ext cx="1657581" cy="40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388" y="5095661"/>
            <a:ext cx="1629002" cy="342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3750" y="5687208"/>
            <a:ext cx="1619476" cy="31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650" y="438013"/>
            <a:ext cx="6924675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486708" y="1523718"/>
            <a:ext cx="8170581" cy="457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4" name="Google Shape;284;p7"/>
          <p:cNvGraphicFramePr/>
          <p:nvPr/>
        </p:nvGraphicFramePr>
        <p:xfrm>
          <a:off x="628650" y="3239294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FFC191"/>
                    </a:gs>
                    <a:gs pos="35000">
                      <a:srgbClr val="FFD3B2"/>
                    </a:gs>
                    <a:gs pos="100000">
                      <a:srgbClr val="FFEEE0"/>
                    </a:gs>
                  </a:gsLst>
                  <a:lin ang="16200000" scaled="0"/>
                </a:gradFill>
                <a:tableStyleId>{1929BAF9-89AB-4233-A9A3-3AE3DA52803E}</a:tableStyleId>
              </a:tblPr>
              <a:tblGrid>
                <a:gridCol w="3943350"/>
                <a:gridCol w="394335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Notación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Significado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accent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Uno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0..1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Opcional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*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Muchos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1..*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Uno o muchos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85" name="Google Shape;285;p7"/>
          <p:cNvSpPr txBox="1"/>
          <p:nvPr/>
        </p:nvSpPr>
        <p:spPr>
          <a:xfrm>
            <a:off x="685797" y="1991360"/>
            <a:ext cx="78295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 cuántos objetos se relacionan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2286633" y="5272564"/>
            <a:ext cx="46278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Store 1 -------- * Game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tienda tiene muchos juegos</a:t>
            </a: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87" name="Google Shape;28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" y="352150"/>
            <a:ext cx="447675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3_Simple Light">
  <a:themeElements>
    <a:clrScheme name="Simple Light">
      <a:dk1>
        <a:srgbClr val="152A1D"/>
      </a:dk1>
      <a:lt1>
        <a:srgbClr val="FFFFFF"/>
      </a:lt1>
      <a:dk2>
        <a:srgbClr val="595959"/>
      </a:dk2>
      <a:lt2>
        <a:srgbClr val="EEEEEE"/>
      </a:lt2>
      <a:accent1>
        <a:srgbClr val="E6945A"/>
      </a:accent1>
      <a:accent2>
        <a:srgbClr val="212121"/>
      </a:accent2>
      <a:accent3>
        <a:srgbClr val="78909C"/>
      </a:accent3>
      <a:accent4>
        <a:srgbClr val="FFAB40"/>
      </a:accent4>
      <a:accent5>
        <a:srgbClr val="E6945A"/>
      </a:accent5>
      <a:accent6>
        <a:srgbClr val="E6945A"/>
      </a:accent6>
      <a:hlink>
        <a:srgbClr val="E69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152A1D"/>
      </a:dk1>
      <a:lt1>
        <a:srgbClr val="FFFFFF"/>
      </a:lt1>
      <a:dk2>
        <a:srgbClr val="595959"/>
      </a:dk2>
      <a:lt2>
        <a:srgbClr val="EEEEEE"/>
      </a:lt2>
      <a:accent1>
        <a:srgbClr val="E6945A"/>
      </a:accent1>
      <a:accent2>
        <a:srgbClr val="212121"/>
      </a:accent2>
      <a:accent3>
        <a:srgbClr val="78909C"/>
      </a:accent3>
      <a:accent4>
        <a:srgbClr val="FFAB40"/>
      </a:accent4>
      <a:accent5>
        <a:srgbClr val="E6945A"/>
      </a:accent5>
      <a:accent6>
        <a:srgbClr val="E6945A"/>
      </a:accent6>
      <a:hlink>
        <a:srgbClr val="E69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52A1D"/>
      </a:dk1>
      <a:lt1>
        <a:srgbClr val="FFFFFF"/>
      </a:lt1>
      <a:dk2>
        <a:srgbClr val="595959"/>
      </a:dk2>
      <a:lt2>
        <a:srgbClr val="EEEEEE"/>
      </a:lt2>
      <a:accent1>
        <a:srgbClr val="E6945A"/>
      </a:accent1>
      <a:accent2>
        <a:srgbClr val="212121"/>
      </a:accent2>
      <a:accent3>
        <a:srgbClr val="78909C"/>
      </a:accent3>
      <a:accent4>
        <a:srgbClr val="FFAB40"/>
      </a:accent4>
      <a:accent5>
        <a:srgbClr val="E6945A"/>
      </a:accent5>
      <a:accent6>
        <a:srgbClr val="E6945A"/>
      </a:accent6>
      <a:hlink>
        <a:srgbClr val="E69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iseño personalizado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